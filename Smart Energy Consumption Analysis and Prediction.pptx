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0" r:id="rId1"/>
  </p:sldMasterIdLst>
  <p:notesMasterIdLst>
    <p:notesMasterId r:id="rId29"/>
  </p:notesMasterIdLst>
  <p:sldIdLst>
    <p:sldId id="256" r:id="rId2"/>
    <p:sldId id="257" r:id="rId3"/>
    <p:sldId id="258" r:id="rId4"/>
    <p:sldId id="259" r:id="rId5"/>
    <p:sldId id="261" r:id="rId6"/>
    <p:sldId id="262" r:id="rId7"/>
    <p:sldId id="288" r:id="rId8"/>
    <p:sldId id="263" r:id="rId9"/>
    <p:sldId id="289" r:id="rId10"/>
    <p:sldId id="264" r:id="rId11"/>
    <p:sldId id="265" r:id="rId12"/>
    <p:sldId id="271" r:id="rId13"/>
    <p:sldId id="272" r:id="rId14"/>
    <p:sldId id="274" r:id="rId15"/>
    <p:sldId id="278" r:id="rId16"/>
    <p:sldId id="279" r:id="rId17"/>
    <p:sldId id="281" r:id="rId18"/>
    <p:sldId id="282" r:id="rId19"/>
    <p:sldId id="283" r:id="rId20"/>
    <p:sldId id="284" r:id="rId21"/>
    <p:sldId id="285" r:id="rId22"/>
    <p:sldId id="286" r:id="rId23"/>
    <p:sldId id="287" r:id="rId24"/>
    <p:sldId id="275" r:id="rId25"/>
    <p:sldId id="276" r:id="rId26"/>
    <p:sldId id="290" r:id="rId27"/>
    <p:sldId id="27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535" autoAdjust="0"/>
  </p:normalViewPr>
  <p:slideViewPr>
    <p:cSldViewPr snapToGrid="0">
      <p:cViewPr>
        <p:scale>
          <a:sx n="87" d="100"/>
          <a:sy n="87" d="100"/>
        </p:scale>
        <p:origin x="480"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F28A76-BB7C-44A2-9266-C2973D650F42}" type="datetimeFigureOut">
              <a:rPr lang="en-IN" smtClean="0"/>
              <a:t>22-01-2026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EDCB6F-461E-434F-A1F0-7D53C2CDFAE0}" type="slidenum">
              <a:rPr lang="en-IN" smtClean="0"/>
              <a:t>‹#›</a:t>
            </a:fld>
            <a:endParaRPr lang="en-IN"/>
          </a:p>
        </p:txBody>
      </p:sp>
    </p:spTree>
    <p:extLst>
      <p:ext uri="{BB962C8B-B14F-4D97-AF65-F5344CB8AC3E}">
        <p14:creationId xmlns:p14="http://schemas.microsoft.com/office/powerpoint/2010/main" val="238701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FEDCB6F-461E-434F-A1F0-7D53C2CDFAE0}" type="slidenum">
              <a:rPr lang="en-IN" smtClean="0"/>
              <a:t>18</a:t>
            </a:fld>
            <a:endParaRPr lang="en-IN"/>
          </a:p>
        </p:txBody>
      </p:sp>
    </p:spTree>
    <p:extLst>
      <p:ext uri="{BB962C8B-B14F-4D97-AF65-F5344CB8AC3E}">
        <p14:creationId xmlns:p14="http://schemas.microsoft.com/office/powerpoint/2010/main" val="3127662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4896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4923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1053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267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0967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0956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1/22/2026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3626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5266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76644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2381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109029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234301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1808242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30173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91928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5285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9B482E8-6E0E-1B4F-B1FD-C69DB9E858D9}" type="datetimeFigureOut">
              <a:rPr lang="en-US" smtClean="0"/>
              <a:pPr/>
              <a:t>1/22/2026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7141125"/>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6FDC-C628-76F4-78AA-AF02D02B1894}"/>
              </a:ext>
            </a:extLst>
          </p:cNvPr>
          <p:cNvSpPr>
            <a:spLocks noGrp="1"/>
          </p:cNvSpPr>
          <p:nvPr>
            <p:ph type="ctrTitle"/>
          </p:nvPr>
        </p:nvSpPr>
        <p:spPr>
          <a:xfrm>
            <a:off x="4413738" y="536331"/>
            <a:ext cx="6462347" cy="3121269"/>
          </a:xfrm>
        </p:spPr>
        <p:txBody>
          <a:bodyPr>
            <a:normAutofit fontScale="90000"/>
          </a:bodyPr>
          <a:lstStyle/>
          <a:p>
            <a:br>
              <a:rPr lang="en-US" sz="4000" dirty="0">
                <a:solidFill>
                  <a:srgbClr val="272D45"/>
                </a:solidFill>
                <a:latin typeface="Kanit Light" pitchFamily="34" charset="0"/>
                <a:ea typeface="Kanit Light" pitchFamily="34" charset="-122"/>
                <a:cs typeface="Kanit Light" pitchFamily="34" charset="-120"/>
              </a:rPr>
            </a:br>
            <a:br>
              <a:rPr lang="en-US" sz="4000" dirty="0">
                <a:solidFill>
                  <a:srgbClr val="272D45"/>
                </a:solidFill>
                <a:latin typeface="Kanit Light" pitchFamily="34" charset="0"/>
                <a:ea typeface="Kanit Light" pitchFamily="34" charset="-122"/>
                <a:cs typeface="Kanit Light" pitchFamily="34" charset="-120"/>
              </a:rPr>
            </a:br>
            <a:br>
              <a:rPr lang="en-US" sz="4000" dirty="0">
                <a:solidFill>
                  <a:srgbClr val="272D45"/>
                </a:solidFill>
                <a:latin typeface="Kanit Light" pitchFamily="34" charset="0"/>
                <a:ea typeface="Kanit Light" pitchFamily="34" charset="-122"/>
                <a:cs typeface="Kanit Light" pitchFamily="34" charset="-120"/>
              </a:rPr>
            </a:br>
            <a:br>
              <a:rPr lang="en-US" sz="4000" dirty="0">
                <a:solidFill>
                  <a:srgbClr val="272D45"/>
                </a:solidFill>
                <a:latin typeface="Kanit Light" pitchFamily="34" charset="0"/>
                <a:ea typeface="Kanit Light" pitchFamily="34" charset="-122"/>
                <a:cs typeface="Kanit Light" pitchFamily="34" charset="-120"/>
              </a:rPr>
            </a:br>
            <a:br>
              <a:rPr lang="en-US" sz="4000" dirty="0">
                <a:solidFill>
                  <a:srgbClr val="272D45"/>
                </a:solidFill>
                <a:latin typeface="Kanit Light" pitchFamily="34" charset="0"/>
                <a:ea typeface="Kanit Light" pitchFamily="34" charset="-122"/>
                <a:cs typeface="Kanit Light" pitchFamily="34" charset="-120"/>
              </a:rPr>
            </a:br>
            <a:r>
              <a:rPr lang="en-US" sz="4000" dirty="0">
                <a:solidFill>
                  <a:srgbClr val="272D45"/>
                </a:solidFill>
                <a:latin typeface="Kanit Light" pitchFamily="34" charset="0"/>
                <a:ea typeface="Kanit Light" pitchFamily="34" charset="-122"/>
                <a:cs typeface="Kanit Light" pitchFamily="34" charset="-120"/>
              </a:rPr>
              <a:t>                                                     </a:t>
            </a:r>
            <a:r>
              <a:rPr lang="en-US" sz="4900" b="1" dirty="0">
                <a:solidFill>
                  <a:srgbClr val="272D45"/>
                </a:solidFill>
                <a:latin typeface="Kanit Light" pitchFamily="34" charset="0"/>
                <a:ea typeface="Kanit Light" pitchFamily="34" charset="-122"/>
                <a:cs typeface="Kanit Light" pitchFamily="34" charset="-120"/>
              </a:rPr>
              <a:t>Smart Energy Consumption Analysis and Prediction</a:t>
            </a:r>
            <a:br>
              <a:rPr lang="en-US" dirty="0"/>
            </a:br>
            <a:endParaRPr lang="en-IN" dirty="0"/>
          </a:p>
        </p:txBody>
      </p:sp>
      <p:sp>
        <p:nvSpPr>
          <p:cNvPr id="3" name="Subtitle 2">
            <a:extLst>
              <a:ext uri="{FF2B5EF4-FFF2-40B4-BE49-F238E27FC236}">
                <a16:creationId xmlns:a16="http://schemas.microsoft.com/office/drawing/2014/main" id="{7A91494F-42E0-F26F-6317-C1C7057BF658}"/>
              </a:ext>
            </a:extLst>
          </p:cNvPr>
          <p:cNvSpPr>
            <a:spLocks noGrp="1"/>
          </p:cNvSpPr>
          <p:nvPr>
            <p:ph type="subTitle" idx="1"/>
          </p:nvPr>
        </p:nvSpPr>
        <p:spPr>
          <a:xfrm>
            <a:off x="4413738" y="3894992"/>
            <a:ext cx="6641114" cy="1670540"/>
          </a:xfrm>
        </p:spPr>
        <p:txBody>
          <a:bodyPr>
            <a:normAutofit/>
          </a:bodyPr>
          <a:lstStyle/>
          <a:p>
            <a:r>
              <a:rPr lang="en-US" b="1" dirty="0"/>
              <a:t>using Machine Learning with Device-Level Insights.</a:t>
            </a:r>
          </a:p>
          <a:p>
            <a:r>
              <a:rPr lang="en-US" b="1" dirty="0"/>
              <a:t>             -NEELAM MANASA</a:t>
            </a:r>
            <a:endParaRPr lang="en-IN" b="1" dirty="0"/>
          </a:p>
        </p:txBody>
      </p:sp>
      <p:pic>
        <p:nvPicPr>
          <p:cNvPr id="5" name="Picture 4">
            <a:extLst>
              <a:ext uri="{FF2B5EF4-FFF2-40B4-BE49-F238E27FC236}">
                <a16:creationId xmlns:a16="http://schemas.microsoft.com/office/drawing/2014/main" id="{F91BE948-5C32-E3A2-0E5D-F7E994413CFA}"/>
              </a:ext>
            </a:extLst>
          </p:cNvPr>
          <p:cNvPicPr>
            <a:picLocks noChangeAspect="1"/>
          </p:cNvPicPr>
          <p:nvPr/>
        </p:nvPicPr>
        <p:blipFill>
          <a:blip r:embed="rId2"/>
          <a:stretch>
            <a:fillRect/>
          </a:stretch>
        </p:blipFill>
        <p:spPr>
          <a:xfrm>
            <a:off x="908548" y="782516"/>
            <a:ext cx="3068876" cy="3464169"/>
          </a:xfrm>
          <a:prstGeom prst="rect">
            <a:avLst/>
          </a:prstGeom>
        </p:spPr>
      </p:pic>
    </p:spTree>
    <p:extLst>
      <p:ext uri="{BB962C8B-B14F-4D97-AF65-F5344CB8AC3E}">
        <p14:creationId xmlns:p14="http://schemas.microsoft.com/office/powerpoint/2010/main" val="454793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5BF99-4891-E21A-748C-449D2E699FCF}"/>
              </a:ext>
            </a:extLst>
          </p:cNvPr>
          <p:cNvSpPr>
            <a:spLocks noGrp="1"/>
          </p:cNvSpPr>
          <p:nvPr>
            <p:ph type="title"/>
          </p:nvPr>
        </p:nvSpPr>
        <p:spPr>
          <a:xfrm>
            <a:off x="1451579" y="804519"/>
            <a:ext cx="9603275" cy="618839"/>
          </a:xfrm>
        </p:spPr>
        <p:txBody>
          <a:bodyPr>
            <a:normAutofit fontScale="90000"/>
          </a:bodyPr>
          <a:lstStyle/>
          <a:p>
            <a:r>
              <a:rPr lang="en-US" b="1" dirty="0"/>
              <a:t>                   </a:t>
            </a:r>
            <a:r>
              <a:rPr lang="en-US" sz="4000" b="1" dirty="0"/>
              <a:t>INTRODUCTION</a:t>
            </a:r>
            <a:endParaRPr lang="en-IN" sz="4000" b="1" dirty="0"/>
          </a:p>
        </p:txBody>
      </p:sp>
      <p:sp>
        <p:nvSpPr>
          <p:cNvPr id="4" name="Rectangle 1">
            <a:extLst>
              <a:ext uri="{FF2B5EF4-FFF2-40B4-BE49-F238E27FC236}">
                <a16:creationId xmlns:a16="http://schemas.microsoft.com/office/drawing/2014/main" id="{B6112861-370C-180F-ABEC-8611DAEE9BBA}"/>
              </a:ext>
            </a:extLst>
          </p:cNvPr>
          <p:cNvSpPr>
            <a:spLocks noGrp="1" noChangeArrowheads="1"/>
          </p:cNvSpPr>
          <p:nvPr>
            <p:ph idx="1"/>
          </p:nvPr>
        </p:nvSpPr>
        <p:spPr bwMode="auto">
          <a:xfrm>
            <a:off x="1767255" y="1857162"/>
            <a:ext cx="799953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This project focuses on smart energy consumption analysis and prediction using machine learning techniques with device-level insights. With increasing electricity demand, there is a need for intelligent systems that can analyze usage patterns and forecast future consumption.</a:t>
            </a:r>
          </a:p>
          <a:p>
            <a:pPr marL="0" lvl="0" indent="0" eaLnBrk="0" fontAlgn="base" hangingPunct="0">
              <a:lnSpc>
                <a:spcPct val="100000"/>
              </a:lnSpc>
              <a:spcBef>
                <a:spcPct val="0"/>
              </a:spcBef>
              <a:spcAft>
                <a:spcPct val="0"/>
              </a:spcAft>
              <a:buClrTx/>
              <a:buSzTx/>
              <a:buNone/>
            </a:pPr>
            <a:endParaRPr 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 By leveraging historical energy data, this project aims to provide accurate predictions and meaningful insights that support efficient energy utilization. The solution combines data analysis, deep learning, and interactive visualization to improve energy management</a:t>
            </a:r>
            <a:r>
              <a:rPr lang="en-US" sz="2000"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278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2812C-604C-0A22-2C94-A87605243F44}"/>
              </a:ext>
            </a:extLst>
          </p:cNvPr>
          <p:cNvSpPr>
            <a:spLocks noGrp="1"/>
          </p:cNvSpPr>
          <p:nvPr>
            <p:ph type="title"/>
          </p:nvPr>
        </p:nvSpPr>
        <p:spPr>
          <a:xfrm>
            <a:off x="1880748" y="606525"/>
            <a:ext cx="8911687" cy="1280890"/>
          </a:xfrm>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PROBLEM STATEMENT</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B8F0287-68E0-FBA4-2202-BFC4751DE406}"/>
              </a:ext>
            </a:extLst>
          </p:cNvPr>
          <p:cNvSpPr>
            <a:spLocks noGrp="1" noChangeArrowheads="1"/>
          </p:cNvSpPr>
          <p:nvPr>
            <p:ph idx="1"/>
          </p:nvPr>
        </p:nvSpPr>
        <p:spPr bwMode="auto">
          <a:xfrm>
            <a:off x="1399566" y="1780458"/>
            <a:ext cx="95656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Traditional energy monitoring systems provide only overall electricity consumption data, making it difficult for users to identify which individual devices consume the most power. These systems lack detailed analysis of energy usage patterns across different time intervals such as hourly, daily, or monthly periods.</a:t>
            </a:r>
          </a:p>
          <a:p>
            <a:pPr marL="0" lvl="0" indent="0" eaLnBrk="0" fontAlgn="base" hangingPunct="0">
              <a:lnSpc>
                <a:spcPct val="10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 Additionally, there is no capability to predict future energy consumption, which limits proactive energy planning. The absence of intelligent insights and recommendations also prevents users from taking effective actions to reduce electricity costs and improve energy efficiency.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7366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4AB9-2420-B662-31EF-748899321711}"/>
              </a:ext>
            </a:extLst>
          </p:cNvPr>
          <p:cNvSpPr>
            <a:spLocks noGrp="1"/>
          </p:cNvSpPr>
          <p:nvPr>
            <p:ph type="title"/>
          </p:nvPr>
        </p:nvSpPr>
        <p:spPr>
          <a:xfrm>
            <a:off x="1451579" y="870438"/>
            <a:ext cx="9603275" cy="764932"/>
          </a:xfrm>
        </p:spPr>
        <p:txBody>
          <a:bodyPr>
            <a:normAutofit/>
          </a:bodyPr>
          <a:lstStyle/>
          <a:p>
            <a:r>
              <a:rPr lang="en-US" dirty="0"/>
              <a:t>              </a:t>
            </a:r>
            <a:r>
              <a:rPr lang="en-US" b="1" dirty="0">
                <a:latin typeface="Times New Roman" panose="02020603050405020304" pitchFamily="18" charset="0"/>
                <a:cs typeface="Times New Roman" panose="02020603050405020304" pitchFamily="18" charset="0"/>
              </a:rPr>
              <a:t>PROBLEM OBJECTIVES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BF43F5E-738B-55A5-8F94-3949E66FFF99}"/>
              </a:ext>
            </a:extLst>
          </p:cNvPr>
          <p:cNvSpPr>
            <a:spLocks noGrp="1" noChangeArrowheads="1"/>
          </p:cNvSpPr>
          <p:nvPr>
            <p:ph idx="1"/>
          </p:nvPr>
        </p:nvSpPr>
        <p:spPr bwMode="auto">
          <a:xfrm>
            <a:off x="1266092" y="1694899"/>
            <a:ext cx="1043647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The objective of this project is to apply machine learning techniques to study and forecast smart energy usage at the individual device level. By utilizing historical smart home energy data, the system aims to provide accurate predictions and meaningful insights that support efficient energy management and reduced power wastage.</a:t>
            </a:r>
          </a:p>
          <a:p>
            <a:r>
              <a:rPr lang="en-IN" sz="2000" b="1" dirty="0">
                <a:latin typeface="Times New Roman" panose="02020603050405020304" pitchFamily="18" charset="0"/>
                <a:cs typeface="Times New Roman" panose="02020603050405020304" pitchFamily="18" charset="0"/>
              </a:rPr>
              <a:t>Key Objectives</a:t>
            </a:r>
          </a:p>
          <a:p>
            <a:r>
              <a:rPr lang="en-IN" sz="2000" dirty="0">
                <a:latin typeface="Times New Roman" panose="02020603050405020304" pitchFamily="18" charset="0"/>
                <a:cs typeface="Times New Roman" panose="02020603050405020304" pitchFamily="18" charset="0"/>
              </a:rPr>
              <a:t>Examine and understand energy usage trends across different household devices</a:t>
            </a:r>
          </a:p>
          <a:p>
            <a:r>
              <a:rPr lang="en-IN" sz="2000" dirty="0">
                <a:latin typeface="Times New Roman" panose="02020603050405020304" pitchFamily="18" charset="0"/>
                <a:cs typeface="Times New Roman" panose="02020603050405020304" pitchFamily="18" charset="0"/>
              </a:rPr>
              <a:t>Develop reliable energy prediction models using LSTM-based deep learning techniques</a:t>
            </a:r>
          </a:p>
          <a:p>
            <a:r>
              <a:rPr lang="en-IN" sz="2000" dirty="0">
                <a:latin typeface="Times New Roman" panose="02020603050405020304" pitchFamily="18" charset="0"/>
                <a:cs typeface="Times New Roman" panose="02020603050405020304" pitchFamily="18" charset="0"/>
              </a:rPr>
              <a:t>Provide device-wise analytical insights to improve energy efficiency</a:t>
            </a:r>
          </a:p>
          <a:p>
            <a:r>
              <a:rPr lang="en-IN" sz="2000" dirty="0">
                <a:latin typeface="Times New Roman" panose="02020603050405020304" pitchFamily="18" charset="0"/>
                <a:cs typeface="Times New Roman" panose="02020603050405020304" pitchFamily="18" charset="0"/>
              </a:rPr>
              <a:t>Support near real-time energy consumption prediction for better decision-making</a:t>
            </a:r>
          </a:p>
          <a:p>
            <a:pPr marL="0" lvl="0" indent="0" eaLnBrk="0" fontAlgn="base"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10673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9AC8-9837-872E-51DE-B43B141E4C4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DATASET DESCRIPTION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94AAD53-D800-BCD4-0A33-04C560D76FB6}"/>
              </a:ext>
            </a:extLst>
          </p:cNvPr>
          <p:cNvSpPr>
            <a:spLocks noGrp="1" noChangeArrowheads="1"/>
          </p:cNvSpPr>
          <p:nvPr>
            <p:ph idx="1"/>
          </p:nvPr>
        </p:nvSpPr>
        <p:spPr bwMode="auto">
          <a:xfrm>
            <a:off x="1195754" y="1686236"/>
            <a:ext cx="716291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Home Energy Monitoring Dataset (Kaggle).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6 months of timestamped power readings.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Attributes: Timestamp, Device, Power Consumption.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Devices: AC, Light, TV, Fridge, etc.</a:t>
            </a:r>
          </a:p>
        </p:txBody>
      </p:sp>
    </p:spTree>
    <p:extLst>
      <p:ext uri="{BB962C8B-B14F-4D97-AF65-F5344CB8AC3E}">
        <p14:creationId xmlns:p14="http://schemas.microsoft.com/office/powerpoint/2010/main" val="3488863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F1234-38C1-55B7-7A93-2204056B108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SYSTEM ARCHITECTURE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1DDAF8-4EB3-BB86-89F5-30B7D727F697}"/>
              </a:ext>
            </a:extLst>
          </p:cNvPr>
          <p:cNvSpPr>
            <a:spLocks noGrp="1"/>
          </p:cNvSpPr>
          <p:nvPr>
            <p:ph idx="1"/>
          </p:nvPr>
        </p:nvSpPr>
        <p:spPr>
          <a:xfrm>
            <a:off x="1345223" y="1696915"/>
            <a:ext cx="10159389" cy="4214307"/>
          </a:xfrm>
        </p:spPr>
        <p:txBody>
          <a:bodyPr>
            <a:normAutofit/>
          </a:bodyPr>
          <a:lstStyle/>
          <a:p>
            <a:r>
              <a:rPr lang="en-IN" sz="2000" dirty="0">
                <a:latin typeface="Times New Roman" panose="02020603050405020304" pitchFamily="18" charset="0"/>
                <a:cs typeface="Times New Roman" panose="02020603050405020304" pitchFamily="18" charset="0"/>
              </a:rPr>
              <a:t>Data Collection </a:t>
            </a:r>
          </a:p>
          <a:p>
            <a:r>
              <a:rPr lang="en-IN" sz="2000" dirty="0">
                <a:latin typeface="Times New Roman" panose="02020603050405020304" pitchFamily="18" charset="0"/>
                <a:cs typeface="Times New Roman" panose="02020603050405020304" pitchFamily="18" charset="0"/>
              </a:rPr>
              <a:t>Data Preprocessing </a:t>
            </a:r>
          </a:p>
          <a:p>
            <a:r>
              <a:rPr lang="en-IN" sz="2000" dirty="0">
                <a:latin typeface="Times New Roman" panose="02020603050405020304" pitchFamily="18" charset="0"/>
                <a:cs typeface="Times New Roman" panose="02020603050405020304" pitchFamily="18" charset="0"/>
              </a:rPr>
              <a:t>Feature Engineering </a:t>
            </a:r>
          </a:p>
          <a:p>
            <a:r>
              <a:rPr lang="en-IN" sz="2000" dirty="0">
                <a:latin typeface="Times New Roman" panose="02020603050405020304" pitchFamily="18" charset="0"/>
                <a:cs typeface="Times New Roman" panose="02020603050405020304" pitchFamily="18" charset="0"/>
              </a:rPr>
              <a:t>LSTM Model Development </a:t>
            </a:r>
          </a:p>
          <a:p>
            <a:r>
              <a:rPr lang="en-IN" sz="2000" dirty="0">
                <a:latin typeface="Times New Roman" panose="02020603050405020304" pitchFamily="18" charset="0"/>
                <a:cs typeface="Times New Roman" panose="02020603050405020304" pitchFamily="18" charset="0"/>
              </a:rPr>
              <a:t> Model Training &amp; Evaluation </a:t>
            </a:r>
          </a:p>
          <a:p>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Application </a:t>
            </a:r>
          </a:p>
          <a:p>
            <a:r>
              <a:rPr lang="en-IN" sz="2000" dirty="0">
                <a:latin typeface="Times New Roman" panose="02020603050405020304" pitchFamily="18" charset="0"/>
                <a:cs typeface="Times New Roman" panose="02020603050405020304" pitchFamily="18" charset="0"/>
              </a:rPr>
              <a:t> Interactive Dashboard &amp; Predictions</a:t>
            </a:r>
          </a:p>
        </p:txBody>
      </p:sp>
    </p:spTree>
    <p:extLst>
      <p:ext uri="{BB962C8B-B14F-4D97-AF65-F5344CB8AC3E}">
        <p14:creationId xmlns:p14="http://schemas.microsoft.com/office/powerpoint/2010/main" val="1288889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7D869D-9B26-373E-9540-0FD2620070EA}"/>
              </a:ext>
            </a:extLst>
          </p:cNvPr>
          <p:cNvSpPr>
            <a:spLocks noGrp="1"/>
          </p:cNvSpPr>
          <p:nvPr>
            <p:ph type="body" idx="1"/>
          </p:nvPr>
        </p:nvSpPr>
        <p:spPr>
          <a:xfrm>
            <a:off x="2233245" y="2743199"/>
            <a:ext cx="7508631" cy="2013439"/>
          </a:xfrm>
        </p:spPr>
        <p:txBody>
          <a:bodyPr>
            <a:normAutofit/>
          </a:bodyPr>
          <a:lstStyle/>
          <a:p>
            <a:r>
              <a:rPr lang="en-US" sz="4200" b="1" dirty="0">
                <a:solidFill>
                  <a:srgbClr val="272D45"/>
                </a:solidFill>
                <a:latin typeface="Times New Roman" panose="02020603050405020304" pitchFamily="18" charset="0"/>
                <a:ea typeface="Kanit Light" pitchFamily="34" charset="-122"/>
                <a:cs typeface="Times New Roman" panose="02020603050405020304" pitchFamily="18" charset="0"/>
              </a:rPr>
              <a:t>Data Preprocessing &amp; Feature Engineering Pipeline</a:t>
            </a:r>
            <a:endParaRPr lang="en-US" sz="42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90346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37A62B-1CA2-AE88-3A76-7A5A8FA06578}"/>
              </a:ext>
            </a:extLst>
          </p:cNvPr>
          <p:cNvSpPr>
            <a:spLocks noGrp="1"/>
          </p:cNvSpPr>
          <p:nvPr>
            <p:ph idx="1"/>
          </p:nvPr>
        </p:nvSpPr>
        <p:spPr>
          <a:xfrm>
            <a:off x="1451579" y="1151792"/>
            <a:ext cx="9603275" cy="4314554"/>
          </a:xfrm>
        </p:spPr>
        <p:txBody>
          <a:bodyPr>
            <a:normAutofit fontScale="77500" lnSpcReduction="20000"/>
          </a:bodyPr>
          <a:lstStyle/>
          <a:p>
            <a:pPr marL="0" indent="0">
              <a:buNone/>
            </a:pPr>
            <a:endParaRPr lang="en-US" dirty="0"/>
          </a:p>
          <a:p>
            <a:r>
              <a:rPr lang="en-US" sz="2600" b="1" dirty="0">
                <a:latin typeface="Times New Roman" panose="02020603050405020304" pitchFamily="18" charset="0"/>
                <a:cs typeface="Times New Roman" panose="02020603050405020304" pitchFamily="18" charset="0"/>
              </a:rPr>
              <a:t>Module 1: Data Collection &amp; Exploration</a:t>
            </a:r>
          </a:p>
          <a:p>
            <a:pPr marL="0" indent="0">
              <a:buNone/>
            </a:pPr>
            <a:r>
              <a:rPr lang="en-US" sz="2400" dirty="0">
                <a:latin typeface="Times New Roman" panose="02020603050405020304" pitchFamily="18" charset="0"/>
                <a:cs typeface="Times New Roman" panose="02020603050405020304" pitchFamily="18" charset="0"/>
              </a:rPr>
              <a:t>In this module, the energy consumption dataset is loaded using Python libraries such as Pandas. Initial exploration is performed to understand device-wise energy usage patterns. Missing timestamps are identified, and basic visualizations are created to observe overall consumption trends.</a:t>
            </a:r>
          </a:p>
          <a:p>
            <a:pPr marL="0" indent="0">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Module 2: Data Cleaning &amp; Preprocessing</a:t>
            </a:r>
          </a:p>
          <a:p>
            <a:pPr marL="0" indent="0">
              <a:buNone/>
            </a:pPr>
            <a:r>
              <a:rPr lang="en-US" sz="2400" dirty="0">
                <a:latin typeface="Times New Roman" panose="02020603050405020304" pitchFamily="18" charset="0"/>
                <a:cs typeface="Times New Roman" panose="02020603050405020304" pitchFamily="18" charset="0"/>
              </a:rPr>
              <a:t>This module focuses on cleaning the dataset by handling missing values and outliers. Timestamps are converted into datetime format for time-series analysis. The data is resampled into hourly and daily intervals, and energy values are normalized to improve model performance.</a:t>
            </a:r>
          </a:p>
          <a:p>
            <a:pPr marL="0" indent="0">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17349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8A7D8C-24C8-67CE-E351-A6FA1F0F6567}"/>
              </a:ext>
            </a:extLst>
          </p:cNvPr>
          <p:cNvSpPr>
            <a:spLocks noGrp="1"/>
          </p:cNvSpPr>
          <p:nvPr>
            <p:ph idx="1"/>
          </p:nvPr>
        </p:nvSpPr>
        <p:spPr>
          <a:xfrm>
            <a:off x="1638300" y="1271954"/>
            <a:ext cx="8915400" cy="4337538"/>
          </a:xfrm>
        </p:spPr>
        <p:txBody>
          <a:bodyPr>
            <a:normAutofit/>
          </a:bodyPr>
          <a:lstStyle/>
          <a:p>
            <a:r>
              <a:rPr lang="en-US" sz="2400" b="1" dirty="0">
                <a:latin typeface="Times New Roman" panose="02020603050405020304" pitchFamily="18" charset="0"/>
                <a:cs typeface="Times New Roman" panose="02020603050405020304" pitchFamily="18" charset="0"/>
              </a:rPr>
              <a:t>Module 3: Feature Engineering</a:t>
            </a:r>
          </a:p>
          <a:p>
            <a:pPr marL="0" indent="0">
              <a:buNone/>
            </a:pPr>
            <a:r>
              <a:rPr lang="en-US" sz="2000" dirty="0">
                <a:latin typeface="Times New Roman" panose="02020603050405020304" pitchFamily="18" charset="0"/>
                <a:cs typeface="Times New Roman" panose="02020603050405020304" pitchFamily="18" charset="0"/>
              </a:rPr>
              <a:t>In this stage, important time-based features such as hour, day, week, and month are extracted from the dataset. Lag features and moving averages are created to capture historical dependencies. The final output of this module is a structured, model-ready dataset</a:t>
            </a: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Module 4: Baseline Model – Linear Regression</a:t>
            </a:r>
          </a:p>
          <a:p>
            <a:pPr marL="0" indent="0">
              <a:buNone/>
            </a:pPr>
            <a:r>
              <a:rPr lang="en-US" sz="2000" dirty="0">
                <a:latin typeface="Times New Roman" panose="02020603050405020304" pitchFamily="18" charset="0"/>
                <a:cs typeface="Times New Roman" panose="02020603050405020304" pitchFamily="18" charset="0"/>
              </a:rPr>
              <a:t>A Linear Regression model is developed as a baseline to predict future energy consumption. The model’s performance is evaluated using metrics such as MAE and RMSE. Actual and predicted values are compared to understand the limitations of traditional models</a:t>
            </a: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437915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CECD9-A343-3460-3FED-5B783210DA69}"/>
              </a:ext>
            </a:extLst>
          </p:cNvPr>
          <p:cNvSpPr>
            <a:spLocks noGrp="1"/>
          </p:cNvSpPr>
          <p:nvPr>
            <p:ph idx="1"/>
          </p:nvPr>
        </p:nvSpPr>
        <p:spPr>
          <a:xfrm>
            <a:off x="1638300" y="1192824"/>
            <a:ext cx="8915400" cy="3777622"/>
          </a:xfrm>
        </p:spPr>
        <p:txBody>
          <a:bodyPr>
            <a:normAutofit fontScale="70000" lnSpcReduction="20000"/>
          </a:bodyPr>
          <a:lstStyle/>
          <a:p>
            <a:pPr marL="0" indent="0">
              <a:buNone/>
            </a:pPr>
            <a:br>
              <a:rPr lang="en-US" dirty="0"/>
            </a:br>
            <a:endParaRPr lang="en-US" dirty="0"/>
          </a:p>
          <a:p>
            <a:r>
              <a:rPr lang="en-US" sz="2600" b="1" dirty="0">
                <a:latin typeface="Times New Roman" panose="02020603050405020304" pitchFamily="18" charset="0"/>
                <a:cs typeface="Times New Roman" panose="02020603050405020304" pitchFamily="18" charset="0"/>
              </a:rPr>
              <a:t>Module 5: LSTM Model Development</a:t>
            </a:r>
          </a:p>
          <a:p>
            <a:pPr marL="0" indent="0">
              <a:buNone/>
            </a:pPr>
            <a:r>
              <a:rPr lang="en-US" sz="2400" dirty="0">
                <a:latin typeface="Times New Roman" panose="02020603050405020304" pitchFamily="18" charset="0"/>
                <a:cs typeface="Times New Roman" panose="02020603050405020304" pitchFamily="18" charset="0"/>
              </a:rPr>
              <a:t>This module involves designing and training an LSTM-based deep learning model using TensorFlow and </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The model learns time-dependent energy consumption patterns more effectively. Hyperparameters are tuned, and the LSTM model is compared with the Linear Regression model for accuracy.</a:t>
            </a:r>
          </a:p>
          <a:p>
            <a:pPr marL="0" indent="0">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Module 6: Model Evaluation &amp; </a:t>
            </a:r>
            <a:r>
              <a:rPr lang="en-US" sz="2600" b="1" dirty="0" err="1">
                <a:latin typeface="Times New Roman" panose="02020603050405020304" pitchFamily="18" charset="0"/>
                <a:cs typeface="Times New Roman" panose="02020603050405020304" pitchFamily="18" charset="0"/>
              </a:rPr>
              <a:t>Streamlit</a:t>
            </a:r>
            <a:r>
              <a:rPr lang="en-US" sz="2600" b="1" dirty="0">
                <a:latin typeface="Times New Roman" panose="02020603050405020304" pitchFamily="18" charset="0"/>
                <a:cs typeface="Times New Roman" panose="02020603050405020304" pitchFamily="18" charset="0"/>
              </a:rPr>
              <a:t> Integration</a:t>
            </a:r>
          </a:p>
          <a:p>
            <a:pPr marL="0" indent="0">
              <a:buNone/>
            </a:pPr>
            <a:r>
              <a:rPr lang="en-US" sz="2600" dirty="0">
                <a:latin typeface="Times New Roman" panose="02020603050405020304" pitchFamily="18" charset="0"/>
                <a:cs typeface="Times New Roman" panose="02020603050405020304" pitchFamily="18" charset="0"/>
              </a:rPr>
              <a:t>The trained models are evaluated using RMSE, MAE, and R² score, and the best-performing LSTM model is selected. The trained model is saved and integrated directly into a </a:t>
            </a:r>
            <a:r>
              <a:rPr lang="en-US" sz="2600" dirty="0" err="1">
                <a:latin typeface="Times New Roman" panose="02020603050405020304" pitchFamily="18" charset="0"/>
                <a:cs typeface="Times New Roman" panose="02020603050405020304" pitchFamily="18" charset="0"/>
              </a:rPr>
              <a:t>Streamlit</a:t>
            </a:r>
            <a:r>
              <a:rPr lang="en-US" sz="2600" dirty="0">
                <a:latin typeface="Times New Roman" panose="02020603050405020304" pitchFamily="18" charset="0"/>
                <a:cs typeface="Times New Roman" panose="02020603050405020304" pitchFamily="18" charset="0"/>
              </a:rPr>
              <a:t> application to enable real-time energy consumption prediction.</a:t>
            </a:r>
          </a:p>
          <a:p>
            <a:endParaRPr lang="en-IN" dirty="0"/>
          </a:p>
        </p:txBody>
      </p:sp>
    </p:spTree>
    <p:extLst>
      <p:ext uri="{BB962C8B-B14F-4D97-AF65-F5344CB8AC3E}">
        <p14:creationId xmlns:p14="http://schemas.microsoft.com/office/powerpoint/2010/main" val="757404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4AFA1D1-B785-5A34-4F79-E9F8C2FE7CEE}"/>
              </a:ext>
            </a:extLst>
          </p:cNvPr>
          <p:cNvSpPr>
            <a:spLocks noGrp="1" noChangeArrowheads="1"/>
          </p:cNvSpPr>
          <p:nvPr>
            <p:ph idx="1"/>
          </p:nvPr>
        </p:nvSpPr>
        <p:spPr bwMode="auto">
          <a:xfrm>
            <a:off x="1562428" y="1310593"/>
            <a:ext cx="8635681" cy="2098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Module 7: </a:t>
            </a:r>
            <a:r>
              <a:rPr lang="en-US" sz="2400" b="1" dirty="0" err="1">
                <a:latin typeface="Times New Roman" panose="02020603050405020304" pitchFamily="18" charset="0"/>
                <a:cs typeface="Times New Roman" panose="02020603050405020304" pitchFamily="18" charset="0"/>
              </a:rPr>
              <a:t>Streamlit</a:t>
            </a:r>
            <a:r>
              <a:rPr lang="en-US" sz="2400" b="1" dirty="0">
                <a:latin typeface="Times New Roman" panose="02020603050405020304" pitchFamily="18" charset="0"/>
                <a:cs typeface="Times New Roman" panose="02020603050405020304" pitchFamily="18" charset="0"/>
              </a:rPr>
              <a:t> Dashboard &amp; Visualization</a:t>
            </a:r>
          </a:p>
          <a:p>
            <a:pPr marL="0" indent="0">
              <a:buNone/>
            </a:pPr>
            <a:r>
              <a:rPr lang="en-US" sz="2000" dirty="0">
                <a:latin typeface="Times New Roman" panose="02020603050405020304" pitchFamily="18" charset="0"/>
                <a:cs typeface="Times New Roman" panose="02020603050405020304" pitchFamily="18" charset="0"/>
              </a:rPr>
              <a:t>In the final module, an interactive dashboard is developed using </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The dashboard displays device-wise energy consumption, hourly, daily, and monthly usage patterns, and future energy predictions. It also provides simple energy-saving suggestions based on usage trends</a:t>
            </a:r>
            <a:r>
              <a:rPr lang="en-US" sz="2000" dirty="0"/>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00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C2992-18B7-38CD-688B-93282DC4EC0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Smart Suggestions Engine</a:t>
            </a:r>
          </a:p>
        </p:txBody>
      </p:sp>
      <p:sp>
        <p:nvSpPr>
          <p:cNvPr id="4" name="Rectangle 1">
            <a:extLst>
              <a:ext uri="{FF2B5EF4-FFF2-40B4-BE49-F238E27FC236}">
                <a16:creationId xmlns:a16="http://schemas.microsoft.com/office/drawing/2014/main" id="{B6B3C0E4-F7D5-D5C8-C72C-14936CE013A1}"/>
              </a:ext>
            </a:extLst>
          </p:cNvPr>
          <p:cNvSpPr>
            <a:spLocks noGrp="1" noChangeArrowheads="1"/>
          </p:cNvSpPr>
          <p:nvPr>
            <p:ph idx="1"/>
          </p:nvPr>
        </p:nvSpPr>
        <p:spPr bwMode="auto">
          <a:xfrm>
            <a:off x="1370795" y="1905000"/>
            <a:ext cx="501291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High usage detected. Consider reducing usage</a:t>
            </a:r>
          </a:p>
          <a:p>
            <a:pPr marL="0" lvl="0" indent="0" defTabSz="914400" eaLnBrk="0" fontAlgn="base" hangingPunct="0">
              <a:spcBef>
                <a:spcPct val="0"/>
              </a:spcBef>
              <a:spcAft>
                <a:spcPct val="0"/>
              </a:spcAft>
              <a:buClr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Moderate usage. Try optimizing power usage.</a:t>
            </a:r>
          </a:p>
          <a:p>
            <a:pPr marL="0" lvl="0" indent="0" defTabSz="914400" eaLnBrk="0" fontAlgn="base" hangingPunct="0">
              <a:spcBef>
                <a:spcPct val="0"/>
              </a:spcBef>
              <a:spcAft>
                <a:spcPct val="0"/>
              </a:spcAft>
              <a:buClrTx/>
              <a:buFontTx/>
              <a:buChar cha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Energy usage is optimal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73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1B4B-96E1-A01A-EB5E-213458F9086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3720B09D-FD50-000C-3774-057C38D28F27}"/>
              </a:ext>
            </a:extLst>
          </p:cNvPr>
          <p:cNvSpPr>
            <a:spLocks noGrp="1" noChangeArrowheads="1"/>
          </p:cNvSpPr>
          <p:nvPr>
            <p:ph idx="1"/>
          </p:nvPr>
        </p:nvSpPr>
        <p:spPr bwMode="auto">
          <a:xfrm>
            <a:off x="1134207" y="1562766"/>
            <a:ext cx="9393849"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achieved higher accuracy than Linear Regression.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 RMSE value.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future energy prediction.</a:t>
            </a:r>
          </a:p>
        </p:txBody>
      </p:sp>
    </p:spTree>
    <p:extLst>
      <p:ext uri="{BB962C8B-B14F-4D97-AF65-F5344CB8AC3E}">
        <p14:creationId xmlns:p14="http://schemas.microsoft.com/office/powerpoint/2010/main" val="3100978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3D1B-6FAA-4AB2-D3D3-52676EDFC75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32334E-1B7F-77F2-EE3F-791492787C4A}"/>
              </a:ext>
            </a:extLst>
          </p:cNvPr>
          <p:cNvSpPr>
            <a:spLocks noGrp="1"/>
          </p:cNvSpPr>
          <p:nvPr>
            <p:ph idx="1"/>
          </p:nvPr>
        </p:nvSpPr>
        <p:spPr>
          <a:xfrm>
            <a:off x="1230923" y="1688123"/>
            <a:ext cx="10273689" cy="3042139"/>
          </a:xfrm>
        </p:spPr>
        <p:txBody>
          <a:bodyPr>
            <a:normAutofit/>
          </a:bodyPr>
          <a:lstStyle/>
          <a:p>
            <a:r>
              <a:rPr lang="en-US" sz="2000" dirty="0">
                <a:latin typeface="Times New Roman" panose="02020603050405020304" pitchFamily="18" charset="0"/>
                <a:cs typeface="Times New Roman" panose="02020603050405020304" pitchFamily="18" charset="0"/>
              </a:rPr>
              <a:t>Reduces electricity bill.</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Improves energy efficiency.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Easy to use dashboard.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Scalable and flexible system.</a:t>
            </a:r>
          </a:p>
          <a:p>
            <a:endParaRPr lang="en-IN" dirty="0"/>
          </a:p>
        </p:txBody>
      </p:sp>
    </p:spTree>
    <p:extLst>
      <p:ext uri="{BB962C8B-B14F-4D97-AF65-F5344CB8AC3E}">
        <p14:creationId xmlns:p14="http://schemas.microsoft.com/office/powerpoint/2010/main" val="466692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4FBCBD5-BFA7-54B0-557B-C0EF7D25BC39}"/>
              </a:ext>
            </a:extLst>
          </p:cNvPr>
          <p:cNvPicPr>
            <a:picLocks noGrp="1" noChangeAspect="1"/>
          </p:cNvPicPr>
          <p:nvPr>
            <p:ph idx="1"/>
          </p:nvPr>
        </p:nvPicPr>
        <p:blipFill>
          <a:blip r:embed="rId2"/>
          <a:stretch>
            <a:fillRect/>
          </a:stretch>
        </p:blipFill>
        <p:spPr>
          <a:xfrm>
            <a:off x="1089575" y="624110"/>
            <a:ext cx="10012850" cy="5609780"/>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1205637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9054F-6ABB-7D72-B10C-A16D4E10113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D8BA4C-9DE1-F1A0-8F92-1611F3515D80}"/>
              </a:ext>
            </a:extLst>
          </p:cNvPr>
          <p:cNvPicPr>
            <a:picLocks noGrp="1" noChangeAspect="1"/>
          </p:cNvPicPr>
          <p:nvPr>
            <p:ph idx="1"/>
          </p:nvPr>
        </p:nvPicPr>
        <p:blipFill>
          <a:blip r:embed="rId2"/>
          <a:stretch>
            <a:fillRect/>
          </a:stretch>
        </p:blipFill>
        <p:spPr>
          <a:xfrm>
            <a:off x="1160584" y="720968"/>
            <a:ext cx="10093569" cy="5275385"/>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301921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FDEA24-5C3D-F9AD-9BAF-091A9DADB5D5}"/>
              </a:ext>
            </a:extLst>
          </p:cNvPr>
          <p:cNvPicPr>
            <a:picLocks noChangeAspect="1"/>
          </p:cNvPicPr>
          <p:nvPr/>
        </p:nvPicPr>
        <p:blipFill>
          <a:blip r:embed="rId2"/>
          <a:stretch>
            <a:fillRect/>
          </a:stretch>
        </p:blipFill>
        <p:spPr>
          <a:xfrm>
            <a:off x="983273" y="756138"/>
            <a:ext cx="10534650" cy="5345723"/>
          </a:xfrm>
          <a:prstGeom prst="rect">
            <a:avLst/>
          </a:prstGeom>
        </p:spPr>
      </p:pic>
    </p:spTree>
    <p:extLst>
      <p:ext uri="{BB962C8B-B14F-4D97-AF65-F5344CB8AC3E}">
        <p14:creationId xmlns:p14="http://schemas.microsoft.com/office/powerpoint/2010/main" val="387906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2A0DD3-9173-5A16-A7F5-E451C922D7CE}"/>
              </a:ext>
            </a:extLst>
          </p:cNvPr>
          <p:cNvPicPr>
            <a:picLocks noChangeAspect="1"/>
          </p:cNvPicPr>
          <p:nvPr/>
        </p:nvPicPr>
        <p:blipFill>
          <a:blip r:embed="rId3"/>
          <a:stretch>
            <a:fillRect/>
          </a:stretch>
        </p:blipFill>
        <p:spPr>
          <a:xfrm>
            <a:off x="820615" y="826657"/>
            <a:ext cx="10550770" cy="5204686"/>
          </a:xfrm>
          <a:prstGeom prst="rect">
            <a:avLst/>
          </a:prstGeom>
        </p:spPr>
      </p:pic>
    </p:spTree>
    <p:extLst>
      <p:ext uri="{BB962C8B-B14F-4D97-AF65-F5344CB8AC3E}">
        <p14:creationId xmlns:p14="http://schemas.microsoft.com/office/powerpoint/2010/main" val="387943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758A0-000A-0E4D-8024-C61280DB217A}"/>
              </a:ext>
            </a:extLst>
          </p:cNvPr>
          <p:cNvPicPr>
            <a:picLocks noChangeAspect="1"/>
          </p:cNvPicPr>
          <p:nvPr/>
        </p:nvPicPr>
        <p:blipFill>
          <a:blip r:embed="rId2"/>
          <a:stretch>
            <a:fillRect/>
          </a:stretch>
        </p:blipFill>
        <p:spPr>
          <a:xfrm>
            <a:off x="1090246" y="773174"/>
            <a:ext cx="10181492" cy="4959411"/>
          </a:xfrm>
          <a:prstGeom prst="rect">
            <a:avLst/>
          </a:prstGeom>
        </p:spPr>
      </p:pic>
    </p:spTree>
    <p:extLst>
      <p:ext uri="{BB962C8B-B14F-4D97-AF65-F5344CB8AC3E}">
        <p14:creationId xmlns:p14="http://schemas.microsoft.com/office/powerpoint/2010/main" val="842620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4F3339-EAF1-D44E-B4FD-FD0D0354B871}"/>
              </a:ext>
            </a:extLst>
          </p:cNvPr>
          <p:cNvPicPr>
            <a:picLocks noChangeAspect="1"/>
          </p:cNvPicPr>
          <p:nvPr/>
        </p:nvPicPr>
        <p:blipFill>
          <a:blip r:embed="rId2"/>
          <a:stretch>
            <a:fillRect/>
          </a:stretch>
        </p:blipFill>
        <p:spPr>
          <a:xfrm>
            <a:off x="1307579" y="571901"/>
            <a:ext cx="9576841" cy="5714198"/>
          </a:xfrm>
          <a:prstGeom prst="rect">
            <a:avLst/>
          </a:prstGeom>
        </p:spPr>
      </p:pic>
    </p:spTree>
    <p:extLst>
      <p:ext uri="{BB962C8B-B14F-4D97-AF65-F5344CB8AC3E}">
        <p14:creationId xmlns:p14="http://schemas.microsoft.com/office/powerpoint/2010/main" val="985722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95C585-51C2-C217-C6BC-B8545A524E9B}"/>
              </a:ext>
            </a:extLst>
          </p:cNvPr>
          <p:cNvPicPr>
            <a:picLocks noChangeAspect="1"/>
          </p:cNvPicPr>
          <p:nvPr/>
        </p:nvPicPr>
        <p:blipFill>
          <a:blip r:embed="rId2"/>
          <a:stretch>
            <a:fillRect/>
          </a:stretch>
        </p:blipFill>
        <p:spPr>
          <a:xfrm>
            <a:off x="870438" y="756138"/>
            <a:ext cx="10656277" cy="5266593"/>
          </a:xfrm>
          <a:prstGeom prst="rect">
            <a:avLst/>
          </a:prstGeom>
        </p:spPr>
      </p:pic>
    </p:spTree>
    <p:extLst>
      <p:ext uri="{BB962C8B-B14F-4D97-AF65-F5344CB8AC3E}">
        <p14:creationId xmlns:p14="http://schemas.microsoft.com/office/powerpoint/2010/main" val="2225569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9F1DC4-5370-5592-2AE0-6F320A789EAF}"/>
              </a:ext>
            </a:extLst>
          </p:cNvPr>
          <p:cNvPicPr>
            <a:picLocks noChangeAspect="1"/>
          </p:cNvPicPr>
          <p:nvPr/>
        </p:nvPicPr>
        <p:blipFill>
          <a:blip r:embed="rId2"/>
          <a:stretch>
            <a:fillRect/>
          </a:stretch>
        </p:blipFill>
        <p:spPr>
          <a:xfrm>
            <a:off x="659423" y="518745"/>
            <a:ext cx="10902462" cy="5593793"/>
          </a:xfrm>
          <a:prstGeom prst="rect">
            <a:avLst/>
          </a:prstGeom>
        </p:spPr>
      </p:pic>
    </p:spTree>
    <p:extLst>
      <p:ext uri="{BB962C8B-B14F-4D97-AF65-F5344CB8AC3E}">
        <p14:creationId xmlns:p14="http://schemas.microsoft.com/office/powerpoint/2010/main" val="31207710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DA42E5-DA37-7A56-B00C-911594C2E7B9}"/>
              </a:ext>
            </a:extLst>
          </p:cNvPr>
          <p:cNvPicPr>
            <a:picLocks noChangeAspect="1"/>
          </p:cNvPicPr>
          <p:nvPr/>
        </p:nvPicPr>
        <p:blipFill>
          <a:blip r:embed="rId2"/>
          <a:stretch>
            <a:fillRect/>
          </a:stretch>
        </p:blipFill>
        <p:spPr>
          <a:xfrm>
            <a:off x="764882" y="501163"/>
            <a:ext cx="10873201" cy="5811714"/>
          </a:xfrm>
          <a:prstGeom prst="rect">
            <a:avLst/>
          </a:prstGeom>
        </p:spPr>
      </p:pic>
    </p:spTree>
    <p:extLst>
      <p:ext uri="{BB962C8B-B14F-4D97-AF65-F5344CB8AC3E}">
        <p14:creationId xmlns:p14="http://schemas.microsoft.com/office/powerpoint/2010/main" val="758999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019E1-340E-9219-FECA-0CB69B9AFF51}"/>
              </a:ext>
            </a:extLst>
          </p:cNvPr>
          <p:cNvSpPr>
            <a:spLocks noGrp="1"/>
          </p:cNvSpPr>
          <p:nvPr>
            <p:ph type="title"/>
          </p:nvPr>
        </p:nvSpPr>
        <p:spPr>
          <a:xfrm>
            <a:off x="2461041" y="641695"/>
            <a:ext cx="8911687" cy="1280890"/>
          </a:xfrm>
        </p:spPr>
        <p:txBody>
          <a:bodyPr/>
          <a:lstStyle/>
          <a:p>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D69D1E3-1EEF-D2DB-5110-B991DE78E61A}"/>
              </a:ext>
            </a:extLst>
          </p:cNvPr>
          <p:cNvSpPr>
            <a:spLocks noGrp="1" noChangeArrowheads="1"/>
          </p:cNvSpPr>
          <p:nvPr>
            <p:ph idx="1"/>
          </p:nvPr>
        </p:nvSpPr>
        <p:spPr bwMode="auto">
          <a:xfrm>
            <a:off x="1345222" y="1712614"/>
            <a:ext cx="488852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sensor integration.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Anomaly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Smart home automation.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deployment.</a:t>
            </a:r>
          </a:p>
        </p:txBody>
      </p:sp>
    </p:spTree>
    <p:extLst>
      <p:ext uri="{BB962C8B-B14F-4D97-AF65-F5344CB8AC3E}">
        <p14:creationId xmlns:p14="http://schemas.microsoft.com/office/powerpoint/2010/main" val="947791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084D-8A22-1EE1-26B2-58C461DD2D4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F2C095E-9A58-1CE2-9A78-291A50BCDF4A}"/>
              </a:ext>
            </a:extLst>
          </p:cNvPr>
          <p:cNvSpPr>
            <a:spLocks noGrp="1" noChangeArrowheads="1"/>
          </p:cNvSpPr>
          <p:nvPr>
            <p:ph idx="1"/>
          </p:nvPr>
        </p:nvSpPr>
        <p:spPr bwMode="auto">
          <a:xfrm>
            <a:off x="1046284" y="1951672"/>
            <a:ext cx="597876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energy system improves sustainability.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prediction helps planning.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energy efficient behavior.</a:t>
            </a:r>
          </a:p>
        </p:txBody>
      </p:sp>
    </p:spTree>
    <p:extLst>
      <p:ext uri="{BB962C8B-B14F-4D97-AF65-F5344CB8AC3E}">
        <p14:creationId xmlns:p14="http://schemas.microsoft.com/office/powerpoint/2010/main" val="1518582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B3229A9-EC29-8EEB-3E7A-257F37D5EC60}"/>
              </a:ext>
            </a:extLst>
          </p:cNvPr>
          <p:cNvPicPr>
            <a:picLocks noGrp="1" noChangeAspect="1"/>
          </p:cNvPicPr>
          <p:nvPr>
            <p:ph idx="1"/>
          </p:nvPr>
        </p:nvPicPr>
        <p:blipFill>
          <a:blip r:embed="rId2"/>
          <a:stretch>
            <a:fillRect/>
          </a:stretch>
        </p:blipFill>
        <p:spPr>
          <a:xfrm>
            <a:off x="2674487" y="1834373"/>
            <a:ext cx="6458851" cy="2693665"/>
          </a:xfrm>
          <a:prstGeom prst="rect">
            <a:avLst/>
          </a:prstGeom>
        </p:spPr>
      </p:pic>
    </p:spTree>
    <p:extLst>
      <p:ext uri="{BB962C8B-B14F-4D97-AF65-F5344CB8AC3E}">
        <p14:creationId xmlns:p14="http://schemas.microsoft.com/office/powerpoint/2010/main" val="686279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A777DE-76F6-571D-3C81-BCB0958BACDE}"/>
              </a:ext>
            </a:extLst>
          </p:cNvPr>
          <p:cNvPicPr>
            <a:picLocks noChangeAspect="1"/>
          </p:cNvPicPr>
          <p:nvPr/>
        </p:nvPicPr>
        <p:blipFill>
          <a:blip r:embed="rId2"/>
          <a:stretch>
            <a:fillRect/>
          </a:stretch>
        </p:blipFill>
        <p:spPr>
          <a:xfrm>
            <a:off x="2806007" y="1626577"/>
            <a:ext cx="5564269" cy="4185138"/>
          </a:xfrm>
          <a:prstGeom prst="rect">
            <a:avLst/>
          </a:prstGeom>
        </p:spPr>
      </p:pic>
    </p:spTree>
    <p:extLst>
      <p:ext uri="{BB962C8B-B14F-4D97-AF65-F5344CB8AC3E}">
        <p14:creationId xmlns:p14="http://schemas.microsoft.com/office/powerpoint/2010/main" val="128264582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771</TotalTime>
  <Words>823</Words>
  <Application>Microsoft Office PowerPoint</Application>
  <PresentationFormat>Widescreen</PresentationFormat>
  <Paragraphs>89</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Century Gothic</vt:lpstr>
      <vt:lpstr>Kanit Light</vt:lpstr>
      <vt:lpstr>Times New Roman</vt:lpstr>
      <vt:lpstr>Wingdings 3</vt:lpstr>
      <vt:lpstr>Wisp</vt:lpstr>
      <vt:lpstr>                                                          Smart Energy Consumption Analysis and Prediction </vt:lpstr>
      <vt:lpstr>                   INTRODUCTION</vt:lpstr>
      <vt:lpstr>          PROBLEM STATEMENT</vt:lpstr>
      <vt:lpstr>              PROBLEM OBJECTIVES</vt:lpstr>
      <vt:lpstr>DATASET DESCRIPTION</vt:lpstr>
      <vt:lpstr>SYSTEM ARCHITECTURE</vt:lpstr>
      <vt:lpstr>PowerPoint Presentation</vt:lpstr>
      <vt:lpstr>PowerPoint Presentation</vt:lpstr>
      <vt:lpstr>PowerPoint Presentation</vt:lpstr>
      <vt:lpstr>PowerPoint Presentation</vt:lpstr>
      <vt:lpstr>PowerPoint Presentation</vt:lpstr>
      <vt:lpstr>Smart Suggestions Engine</vt:lpstr>
      <vt:lpstr>     RESULTS</vt:lpstr>
      <vt:lpstr>ADVANTAGES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MANASA NEELAM</dc:creator>
  <cp:lastModifiedBy>MANASA NEELAM</cp:lastModifiedBy>
  <cp:revision>6</cp:revision>
  <dcterms:created xsi:type="dcterms:W3CDTF">2026-01-19T06:40:48Z</dcterms:created>
  <dcterms:modified xsi:type="dcterms:W3CDTF">2026-01-22T11:27:27Z</dcterms:modified>
</cp:coreProperties>
</file>